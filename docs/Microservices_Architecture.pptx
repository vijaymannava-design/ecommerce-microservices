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74" r:id="rId6"/>
    <p:sldId id="259" r:id="rId7"/>
    <p:sldId id="267" r:id="rId8"/>
    <p:sldId id="275" r:id="rId9"/>
    <p:sldId id="260" r:id="rId10"/>
    <p:sldId id="268" r:id="rId11"/>
    <p:sldId id="261" r:id="rId12"/>
    <p:sldId id="269" r:id="rId13"/>
    <p:sldId id="262" r:id="rId14"/>
    <p:sldId id="270" r:id="rId15"/>
    <p:sldId id="263" r:id="rId16"/>
    <p:sldId id="271" r:id="rId17"/>
    <p:sldId id="264" r:id="rId18"/>
    <p:sldId id="272" r:id="rId19"/>
    <p:sldId id="265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395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Helvetica"/>
              </a:defRPr>
            </a:pPr>
            <a:r>
              <a:rPr dirty="0"/>
              <a:t>Building Resilient Microservices</a:t>
            </a:r>
          </a:p>
          <a:p>
            <a:pPr>
              <a:spcBef>
                <a:spcPts val="2000"/>
              </a:spcBef>
              <a:defRPr sz="2200">
                <a:solidFill>
                  <a:srgbClr val="35A29F"/>
                </a:solidFill>
                <a:latin typeface="Helvetica"/>
              </a:defRPr>
            </a:pPr>
            <a:r>
              <a:rPr dirty="0"/>
              <a:t>From Monolith to Distributed Systems with Spring Boot 3.5 &amp; </a:t>
            </a:r>
            <a:r>
              <a:t>Spring Cloud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The Monolithic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**Unified Presentation Layer**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Single User Interface handling web, mobile, and external API consumers seamlessly.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**Centralized API Routing**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One foundational routing layer containing all project controller classes and mapped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**Single Deployable Unit**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All core business capabilities (Product, Order, Inventory, Auth, Notification) compiled inside one fat JAR artifact.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**Shared Database Instance**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Every distinct application domain module connects directly to one massive shared database store.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42F3DB-6B64-42DA-81C0-030DDE21E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723" y="0"/>
            <a:ext cx="60805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21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Evaluating the Monolith (Trade-offs)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**Core Advantages (Pros)**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Quick to develop, compile, and stand up initially.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Simpler data management via localized ACID transactions.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Straightforward debugging without remote network complexities.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Suited well for early-stage validation prototypes.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**Critical Drawbacks (Cons)**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Highly difficult to scale single bottlenecked segments isolatedly.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Tight architectural coupling risks cascading module failures.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Slower development velocity as team sizes scale upward.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Single point of failure brings down the entire business runtime.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47034-D78F-4428-96D6-96FBD37F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8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Transitioning to Microservices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**Decoupled Capabilities**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Every separate domain is developed, maintained, and scaled as its own completely autonomous system application.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**Database-per-Service Pattern**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Strict isolation rules where services exclusively command their own dedicated DB engines (Product DB, Inventory DB, etc.).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**Central Routing &amp; Security**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A singular API Gateway operates upfront to handle edge routing, global load balancing, and auth interception.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**Infrastructure Backbone**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Dynamic network coordinates managed via service registry discovery and properties externalized via a central config server.</a:t>
            </a:r>
          </a:p>
        </p:txBody>
      </p:sp>
      <p:sp>
        <p:nvSpPr>
          <p:cNvPr id="5" name="AutoShape 2" descr="Generated image: Microservices Architecture Blueprint">
            <a:extLst>
              <a:ext uri="{FF2B5EF4-FFF2-40B4-BE49-F238E27FC236}">
                <a16:creationId xmlns:a16="http://schemas.microsoft.com/office/drawing/2014/main" id="{4C254BFA-A1DE-4F9D-AC29-DCD3E5BC13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Generated image: Microservices Architecture Blueprint">
            <a:extLst>
              <a:ext uri="{FF2B5EF4-FFF2-40B4-BE49-F238E27FC236}">
                <a16:creationId xmlns:a16="http://schemas.microsoft.com/office/drawing/2014/main" id="{6AA2E95F-869C-4EC6-9E6A-F5B4B0E2E7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 descr="Generated image: Microservices Architecture Blueprint">
            <a:extLst>
              <a:ext uri="{FF2B5EF4-FFF2-40B4-BE49-F238E27FC236}">
                <a16:creationId xmlns:a16="http://schemas.microsoft.com/office/drawing/2014/main" id="{F043A62E-23BE-425F-8DDC-80B050D128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2517" y="765517"/>
            <a:ext cx="2968283" cy="2968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7FEB4-D38A-42BE-91A5-9A263C2A4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43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77374-82D9-464D-9DB0-CE3D024AA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135" y="32727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dirty="0"/>
              <a:t>PROS &amp; CONS</a:t>
            </a:r>
            <a:br>
              <a:rPr lang="en-US" dirty="0"/>
            </a:br>
            <a:r>
              <a:rPr lang="en-US" dirty="0"/>
              <a:t>Let’s See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368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Phase 1: Startup &amp; Registration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**1. Config Server Bootstrapping**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The centralized Configuration Server initializes first to expose managed runtime properties globally.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**2. Service Registry Ignition**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The Eureka Discovery Server boots directly next to establish the central runtime coordinator database.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**3. Target App Configuration Fetch**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Each application microservice queries the Config Server for active database credentials, connection limits, and internal timeouts.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**4. Dynamic Service Registration**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Microservices push their registration parameters (Application ID, IP, port, and health endpoints) out onto Eureka.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A4DA41-CD19-4B02-9172-6CE4B99E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20" y="0"/>
            <a:ext cx="103609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93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Phase 2: The API Gateway Entry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**1. Intercepting Client Actions**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Clients issue payload actions toward paths like POST /api/orders carrying an appended JWT validation bearer string.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**2. Edge Gateway Inspection**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The WebFlux-based API Gateway traps the request and proxies details to the Auth Service to evaluate signature validity.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**3. Conditional Security Branches**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If token fails validity verification, the gateway abruptly terminates the pipeline returning a raw 401 Unauthorized block.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**4. Intelligently Route Downstream**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If verified, the gateway tracks cached configuration maps to dispatch the client request straight to the Order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F84E03-05EE-44E8-9311-3731DB4FC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2" y="0"/>
            <a:ext cx="115777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67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Phase 3: Synchronous Business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**1. Processing Incoming Payload**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Order Service reads parameters (Product ID, target quantity) and saves status immediately as PENDING inside the Order DB.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**2. Isolated Target Context Check**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The service checks live inventory availability by creating an external connection directly over to the Inventory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**3. Execution Branching Outtakes**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Success (200 OK): Stock is verified, order marks CONFIRMED.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Out of Stock (400): Request gets rejected, order marks FAILED.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Timeout Failure (503): System triggers local resilience rules.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65014-39C1-4A03-A393-B7322ED2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22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Phase 4: Circuit Breaker State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**1. Closed State Management**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Normal operations running cleanly. Calls route regularly down to downstream endpoints while collecting continuous performance data.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**2. Open State Interception**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Triggered instantly when error metrics exceed configured tolerances. Network requests get severed completely.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Incoming callers receive rapid local feedback via manual fallback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**3. Half-Open Safe Re-entry**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A configured timeout window elapses, allowing a brief stream of sample trial calls through to test downstream viability.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If tests pass successfully, the circuit seals closed.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If failures repeat, it snaps immediately back open to protect resources.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E222F-D31E-4333-BE95-51E7B5071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335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Phase 5: Asynchronous Decoupling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**1. Finalizing Synchronous Work**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Once internal validation ends and records state updates (CONFIRMED/FAILED) inside the database, execution steps conclude.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**2. Event Publishing Routine**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The service converts transaction outcomes into event models and fires them down onto an active Kafka queue topic.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**3. Immediate Client Response**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A fast response code loops back to the caller immediately. The user never waits on ancillary tasks.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**4. Non-blocking Notification Steps**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The standalone Notification Service consumes events via @KafkaListener strings and safely handles slow external SMS/Email APIs.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419EAA-0BB7-4CDA-96DF-AEC2BD96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63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Helvetica"/>
              </a:defRPr>
            </a:pPr>
            <a:r>
              <a:t>Phase 6: Continuous Registry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**1. Active Heartbeat Signals**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Live service micro-runtimes transmit periodic heartbeat pings directly to Eureka every 30 seconds to maintain their status.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**2. Caching Client Routing Maps**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Edge gateways and consuming clients poll Eureka consistently to keep their local downstream load balancing paths up to date.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**3. Failure Detection Mechanisms**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If any microservice engine stops sending pings, Eureka flags the target container instance as DOWN after a 90-second lease window.</a:t>
            </a:r>
          </a:p>
          <a:p>
            <a:pPr>
              <a:spcBef>
                <a:spcPts val="1200"/>
              </a:spcBef>
              <a:defRPr sz="1600" b="1">
                <a:solidFill>
                  <a:srgbClr val="102C57"/>
                </a:solidFill>
                <a:latin typeface="Helvetica"/>
              </a:defRPr>
            </a:pPr>
            <a:r>
              <a:t>**4. Automatic Path Isolation**</a:t>
            </a:r>
          </a:p>
          <a:p>
            <a:pPr lvl="1">
              <a:spcBef>
                <a:spcPts val="400"/>
              </a:spcBef>
              <a:defRPr sz="1400">
                <a:solidFill>
                  <a:srgbClr val="212121"/>
                </a:solidFill>
                <a:latin typeface="Helvetica"/>
              </a:defRPr>
            </a:pPr>
            <a:r>
              <a:t>Consuming load balancers sweep internal maps to completely clean out broken nodes, preventing systemic cascading drops.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1E566-9A92-4222-B311-76E84754E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3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958</Words>
  <Application>Microsoft Office PowerPoint</Application>
  <PresentationFormat>Widescreen</PresentationFormat>
  <Paragraphs>87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PROS &amp; CONS Let’s See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vijay</dc:creator>
  <cp:keywords/>
  <dc:description>generated using python-pptx</dc:description>
  <cp:lastModifiedBy>HP</cp:lastModifiedBy>
  <cp:revision>5</cp:revision>
  <dcterms:created xsi:type="dcterms:W3CDTF">2013-01-27T09:14:16Z</dcterms:created>
  <dcterms:modified xsi:type="dcterms:W3CDTF">2026-09-06T17:52:55Z</dcterms:modified>
  <cp:category/>
</cp:coreProperties>
</file>